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609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Idea name: NeuroNova. Submitted individually by Muhammad Taqui, Volunteer Management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source list: Business Recorder "Pakistan’s AI moment" (Jun 2026, citing Access Partnership estimate of Rs2.8tn GDP upside from closing the digital skills gap); Daily Parliament Times "The Skills Gap Pakistan Cannot Ignore" (Jul 2026); Pakistan Today NSCT 2026 coverage (33,000 IT students tested nationwide, Jul 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486400" cy="5486400"/>
          </a:xfrm>
          <a:prstGeom prst="ellipse">
            <a:avLst/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ENTREPRENEURSHIP INITIATIVE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NeuroNova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project-based AI and data science education for students outside Pakistan’s major tech hubs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39496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Taqui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33014 -  3793353 - 3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Management  |  Alkhidmat Summer Internship Program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applied AI skills gap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is producing IT graduates faster than it is producing applied AI skills, and structured hands-on training remains concentrated in a handful of major cities.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0" descr="ic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38429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75,000+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graduates enter Pakistan’s job market every year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53128" y="196596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4727448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1" descr="ic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466" y="23842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27448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&lt;10%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4727448" y="3566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IT professionals have applied AI skills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57616" y="1965960"/>
            <a:ext cx="3611880" cy="2286000"/>
          </a:xfrm>
          <a:prstGeom prst="roundRect">
            <a:avLst>
              <a:gd name="adj" fmla="val 48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2"/>
          <p:cNvSpPr/>
          <p:nvPr/>
        </p:nvSpPr>
        <p:spPr>
          <a:xfrm>
            <a:off x="8631936" y="22402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2" descr="ic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954" y="238429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31936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8631936" y="35661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engineering/IT graduates meet industry skill standards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526280"/>
            <a:ext cx="11109960" cy="1691640"/>
          </a:xfrm>
          <a:prstGeom prst="roundRect">
            <a:avLst>
              <a:gd name="adj" fmla="val 648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6"/>
          <p:cNvSpPr/>
          <p:nvPr/>
        </p:nvSpPr>
        <p:spPr>
          <a:xfrm>
            <a:off x="9144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 gap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14400" y="5029200"/>
            <a:ext cx="10378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Cohort-based training programs enroll on physical campuses in Karachi and Lahore. A recent national skills test found many students had no organized study materials at all. Being based in a smaller Punjab city rather than a major hub is the everyday, lived version of this gap.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Business Recorder / Access Partnership (2026); Daily Parliament Times, World Youth Skills Day coverage (2026); Pakistan Today, HEC NSCT 2026 report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MARKET &amp; COMPETITOR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existing programs fall short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ic_sch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065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81328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DigiSkills.pk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977640" y="1481328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4.5M+ enrollments since 2018 (Ignite / Virtual University)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0" y="1481328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fully remote, explicitly geography-agnostic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052560" y="1481328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digital &amp; freelancing skills, not a structured applied AI/DS path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852928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777240" y="3264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3" name="Image 1" descr="ic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387852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962656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 Qabil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977640" y="2962656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IT courses, now including AI &amp; Data Analytics (Alkhidmat)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583680" y="2962656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Alkhidmat’s own program, strong brand trust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052560" y="2962656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enrollment is campus-based (Karachi/Lahore), with aptitude test, interview, and a refundable deposit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4334256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E5E9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777240" y="47457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0" name="Image 2" descr="ic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" y="4869180"/>
            <a:ext cx="301752" cy="30175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4443984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Career Certificates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977640" y="4443984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scholarships announced, Punjab, 2026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83680" y="4443984"/>
            <a:ext cx="23774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Well-funded, recognised credential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9052560" y="4443984"/>
            <a:ext cx="2514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through university partnerships; access depends on institutional channel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155448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97764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58368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905256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GAP REMAINS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digiskills.pk; banoqabil.pk (registration and course pages); Superior Colleges, "Biggest Gaps in College Education System 2026" (Google–Punjab HED partnership)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open, project-based path into AI/DS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GitHub-hosted curriculum at bachelor’s level, built around real projects rather than video lectures, and free to start from anywhere with an internet connection.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155448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0" descr="ic_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785" y="2440305"/>
            <a:ext cx="377190" cy="3771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build real, demonstrable work, not just watch lectures or collect certificates.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438912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1" descr="ic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5" y="2440305"/>
            <a:ext cx="377190" cy="3771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Location-agnostic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online; no campus enrollment, aptitude test, or deposit required.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2"/>
          <p:cNvSpPr/>
          <p:nvPr/>
        </p:nvSpPr>
        <p:spPr>
          <a:xfrm>
            <a:off x="722376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2" descr="ic_githu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065" y="2440305"/>
            <a:ext cx="377190" cy="3771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Portfolio-first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4652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lives on GitHub from day one, building a track record employers can verify directly.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52560" y="1965960"/>
            <a:ext cx="2697480" cy="2834640"/>
          </a:xfrm>
          <a:prstGeom prst="roundRect">
            <a:avLst>
              <a:gd name="adj" fmla="val 406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6"/>
          <p:cNvSpPr/>
          <p:nvPr/>
        </p:nvSpPr>
        <p:spPr>
          <a:xfrm>
            <a:off x="1005840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2" name="Image 3" descr="ic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2705" y="2440305"/>
            <a:ext cx="377190" cy="3771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35440" y="31546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open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81160" y="36576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Openly licensed and free to use, positioned alongside, not against, Bano Qabil and DigiSkills.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512064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Complementary, not competing: DigiSkills and Bano Qabil solve breadth and brand trust at national scale; NeuroNova targets the specific, narrower gap in structured, applied AI/DS depth.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960120" y="19659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ic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430" y="2160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and self-taught learners in smaller Pakistani cities and towns without access to a campus-based AI/DS bootcamp.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6583680" y="196596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ic_sch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990" y="216027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29260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583680" y="3246120"/>
            <a:ext cx="4709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students anywhere in Pakistan who want a structured, practical supplement to coursework that hasn’t caught up to industry needs.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0080" y="4983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point: the NSCT 2026 assessment recorded rural test participation at less than half the rate of urban participation among IT students, and a marked gender gap in rural districts specifically — the access problem this targets is measurable, not assumed.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learner gets here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926080" y="1371600"/>
            <a:ext cx="2880360" cy="388620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926080" y="1371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06440" y="1371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 Qabil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137160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Career Cert.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14884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017520" y="21488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97880" y="21488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214884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(scholarship-gated)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26080" y="292608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01752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remote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89788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Campus-based cohort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29260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University-channel only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7033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70332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017520" y="37033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project-based AI/DS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897880" y="37033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digital literacy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78240" y="37033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Certificate-based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480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to start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4480560"/>
            <a:ext cx="2880360" cy="777240"/>
          </a:xfrm>
          <a:prstGeom prst="rect">
            <a:avLst/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017520" y="4480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897880" y="4480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Test, interview, deposit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778240" y="448056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in partner university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2148840"/>
            <a:ext cx="11018520" cy="0"/>
          </a:xfrm>
          <a:prstGeom prst="line">
            <a:avLst/>
          </a:prstGeom>
          <a:noFill/>
          <a:ln w="9525">
            <a:solidFill>
              <a:srgbClr val="D8DEE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BUSINESS &amp; SUSTAINABILITY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first, sustained modestly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777240" y="17602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ic_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95453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276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contribution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83080" y="205740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who complete the curriculum are invited back as contributors, keeping projects and content current at low ongoing cost.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777240" y="32689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ic_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4632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136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compute partnerships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783080" y="356616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modest sponsorship for compute credits, similar in spirit to the Alibaba Cloud partnership already running this internship’s AI hackathon.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48056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777240" y="47777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ic_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497205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6451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premium layer (later)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83080" y="5074920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future, clearly separate paid track — structured mentorship or portfolio review — once the free core has real usage. Not part of the initial scope.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60807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for this internship phase is the free, open core — not a fully operating revenue business.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EXECUTION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 already close at hand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ic_git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18813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19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discovery channel for a developer-facing, code-first resource.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ic_linked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258" y="188137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7190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92240" y="2468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build-in-progress posts, applying the personal branding practices from this internship’s own Week 4 training.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822960" y="3977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ic_scho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78" y="412165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59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&amp; college outreach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outreach to computer science and STEM societies in smaller cities specifically.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033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6492240" y="3977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3" descr="ic_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6258" y="412165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959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Alkhidmat’s own network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92240" y="470916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internship’s cohort and Volunteer Management contacts as an initial, trusted distribution channel.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idea to a running pilot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1691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structuring the core project sequence and publish it openly on GitHub.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463040" y="2834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737360" y="2834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small, informal pilot with a handful of real learners and collect direct feedback — the concrete evidence this plan doesn’t yet have.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4069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463040" y="3977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1737360" y="3977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pilot through GitHub and LinkedIn, and through university outreach in smaller cities.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63040" y="5120640"/>
            <a:ext cx="9966960" cy="1051560"/>
          </a:xfrm>
          <a:prstGeom prst="roundRect">
            <a:avLst>
              <a:gd name="adj" fmla="val 6957"/>
            </a:avLst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1737360" y="51206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 modest cloud or compute partnership, following the model already in place for this internship’s AI hackathon.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42B6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1097280" y="23774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knowledge should not depend on which city you were born in.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384048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1430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NeuroNova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Taqui  —  muhammadtaquichat@gmail.com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Microsoft Office PowerPoint</Application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01-136221-021</cp:lastModifiedBy>
  <cp:revision>2</cp:revision>
  <dcterms:created xsi:type="dcterms:W3CDTF">2026-08-16T04:05:48Z</dcterms:created>
  <dcterms:modified xsi:type="dcterms:W3CDTF">2026-08-22T07:29:40Z</dcterms:modified>
</cp:coreProperties>
</file>